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AFAF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FAFAFA"/>
                </a:solidFill>
                <a:latin typeface="Calibri"/>
              </a:rPr>
              <a:t>Gross annual value pool at illustrative reach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value pool (₹ Cr/yr)</c:v>
                </c:pt>
              </c:strCache>
            </c:strRef>
          </c:tx>
          <c:spPr>
            <a:solidFill>
              <a:srgbClr val="F5A5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AFA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100K households</c:v>
                  </c:pt>
                  <c:pt idx="1">
                    <c:v>500K households</c:v>
                  </c:pt>
                  <c:pt idx="2">
                    <c:v>1M households</c:v>
                  </c:pt>
                  <c:pt idx="3">
                    <c:v>2M households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3.3</c:v>
                </c:pt>
                <c:pt idx="1">
                  <c:v>16.5</c:v>
                </c:pt>
                <c:pt idx="2">
                  <c:v>33</c:v>
                </c:pt>
                <c:pt idx="3">
                  <c:v>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AFA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A1A1A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727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A1A1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9090B"/>
        </a:solidFill>
        <a:ln>
          <a:noFill/>
        </a:ln>
        <a:effectLst/>
      </c:spPr>
    </c:plotArea>
    <c:plotVisOnly val="1"/>
    <c:dispBlanksAs val="span"/>
  </c:chart>
  <c:spPr>
    <a:solidFill>
      <a:srgbClr val="09090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926080"/>
            <a:ext cx="7315200" cy="7315200"/>
          </a:xfrm>
          <a:prstGeom prst="ellipse">
            <a:avLst/>
          </a:prstGeom>
          <a:solidFill>
            <a:srgbClr val="F5A524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81828F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&amp; AI  ·  CAPSTONE BOARD PRESENTATION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A1A1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the AI-Native Enterprise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bill-pay app to India’s household financial intelligence layer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48056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681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97280" y="497433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/ BFSI — India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1880" y="4681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#1 (LIVE)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11880" y="497433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Household Card Router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4681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126480" y="497433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dtai-fintech-cred.vercel.app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41080" y="4681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41080" y="497433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DTAI Fintech · PGP Capstone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recommendation, already proven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should extend from single-user bill-pay into household-level financial intelligence — starting with an AI card router that ends manual reward comparison for multi-card families. It is built, deployed, and answering real purchases today.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880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₹33,036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per household / yr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routing every purchase optimally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269748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880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3566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terms-and-conditions rules encoded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priced deterministically, not by the model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269748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2880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63640" y="3566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swing in reward value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phrase: “portal” vs “direct” booking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778240" y="269748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2880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006840" y="3566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deployed, tested end to end,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mockup or a promise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956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Board should approve this first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30352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value × highest feasibility use case on the Opportunity Matrix (slide 7)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on CRED’s existing card-linkage data — no new regulatory data class required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pricing keeps AI risk contained to explanation, not decisioning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COMPANY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 today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trust-first fintech platform built on top of India’s premium credit card base.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166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58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PRODUCT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587752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bill payments with reward points, built for financially disciplined, high-trust members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89320" y="2057400"/>
            <a:ext cx="5166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2258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PRODUCTS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63640" y="2587752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Cash (credit line), CRED Mint (peer lending), CRED Garage (vehicle), CRED Store (rewards marketplace)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166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78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507992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Premium, single-member experience — optimized for the individual cardholder, not the household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89320" y="3977640"/>
            <a:ext cx="5166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4178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TODAY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63640" y="4507992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Card-issuance referral commissions, lending interest, merchant rewards partnerships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Indian financial decisions are made by households, not individuals — CRED’s product is not.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 ·  AI-Native Enterprise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INDUSTRY DYNAMICS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India’s fintech landscape is consolidating around data, not apps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2048256"/>
            <a:ext cx="566928" cy="566928"/>
          </a:xfrm>
          <a:prstGeom prst="ellipse">
            <a:avLst/>
          </a:prstGeom>
          <a:solidFill>
            <a:srgbClr val="F5A524">
              <a:alpha val="13000"/>
            </a:srgbClr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048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048256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as the rail, cards as the margin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carries transaction volume at near-zero take rate; card issuance and credit remain where fintechs earn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82880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54496" y="2048256"/>
            <a:ext cx="566928" cy="566928"/>
          </a:xfrm>
          <a:prstGeom prst="ellipse">
            <a:avLst/>
          </a:prstGeom>
          <a:solidFill>
            <a:srgbClr val="F5A524">
              <a:alpha val="13000"/>
            </a:srgbClr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496" y="2048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0" y="2048256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Aggregator adoption rising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55080" y="274320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RBI-licensed consent-based data sharing is live infrastructure — not yet a mainstream product surface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4197096"/>
            <a:ext cx="566928" cy="566928"/>
          </a:xfrm>
          <a:prstGeom prst="ellipse">
            <a:avLst/>
          </a:prstGeom>
          <a:solidFill>
            <a:srgbClr val="F5A524">
              <a:alpha val="13000"/>
            </a:srgbClr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197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197096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finance intensifying competition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68680" y="48920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Jupiter, INDmoney, Fi and neobanks are converging on the same wealth-and-rewards layer CRED occupies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397764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54496" y="4197096"/>
            <a:ext cx="566928" cy="566928"/>
          </a:xfrm>
          <a:prstGeom prst="ellipse">
            <a:avLst/>
          </a:prstGeom>
          <a:solidFill>
            <a:srgbClr val="F5A524">
              <a:alpha val="13000"/>
            </a:srgbClr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4197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4197096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Household, not individual, is under-served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55080" y="48920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major Indian fintech product treats the family as the unit of financial decision-making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 ·  AI-Native Enterprise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CURRENT BUSINESS CHALLENGES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business feels this — stated in business terms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5156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8424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plateaus after bill-pay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1984248"/>
            <a:ext cx="0" cy="713232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98424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bill is paid on time, the member has no reason to reopen the app until the next cycle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53512"/>
            <a:ext cx="105156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0632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is single-product dependent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3063240"/>
            <a:ext cx="0" cy="713232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30632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leans on card-issuance commissions; cross-sell into new products has been slow to compound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32504"/>
            <a:ext cx="105156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14223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transact as a household, CRED sees one person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4142232"/>
            <a:ext cx="0" cy="713232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4142232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Spouses, parents and dependents hold separate cards CRED never links — losing the full wallet share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11496"/>
            <a:ext cx="105156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22122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brand, but advice is generic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5221224"/>
            <a:ext cx="0" cy="713232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5221224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knows a member pays on time; it has no view into whether they are using the right card for a purchase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 ·  AI-Native Enterprise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AI OPPORTUNITY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decisions a household makes — where prediction and judgment help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" y="1988820"/>
            <a:ext cx="502920" cy="502920"/>
          </a:xfrm>
          <a:prstGeom prst="ellipse">
            <a:avLst/>
          </a:prstGeom>
          <a:solidFill>
            <a:srgbClr val="F5A524">
              <a:alpha val="13000"/>
            </a:srgbClr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4380" y="19888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routing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card earns most for this purchase, across every member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7830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43300" y="1988820"/>
            <a:ext cx="502920" cy="502920"/>
          </a:xfrm>
          <a:prstGeom prst="ellipse">
            <a:avLst/>
          </a:prstGeom>
          <a:solidFill>
            <a:srgbClr val="F5A524">
              <a:alpha val="13000"/>
            </a:srgbClr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3300" y="19888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gaps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3063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life/health cover adequate given debt and dependents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7830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32220" y="1988820"/>
            <a:ext cx="502920" cy="502920"/>
          </a:xfrm>
          <a:prstGeom prst="ellipse">
            <a:avLst/>
          </a:prstGeom>
          <a:solidFill>
            <a:srgbClr val="F5A524">
              <a:alpha val="13000"/>
            </a:srgbClr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2220" y="19888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3063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policy fields, flag missing or outdated nominees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15400" y="17830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21140" y="1988820"/>
            <a:ext cx="502920" cy="502920"/>
          </a:xfrm>
          <a:prstGeom prst="ellipse">
            <a:avLst/>
          </a:prstGeom>
          <a:solidFill>
            <a:srgbClr val="F5A524">
              <a:alpha val="13000"/>
            </a:srgbClr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21140" y="19888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0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Cash-flow advisory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0" y="3063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household afford this, given committed obligations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380" y="4137660"/>
            <a:ext cx="502920" cy="502920"/>
          </a:xfrm>
          <a:prstGeom prst="ellipse">
            <a:avLst/>
          </a:prstGeom>
          <a:solidFill>
            <a:srgbClr val="F5A524">
              <a:alpha val="13000"/>
            </a:srgbClr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" y="4137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7240" y="4800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concentration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5212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asset allocation reasonably diversified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37560" y="39319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43300" y="4137660"/>
            <a:ext cx="502920" cy="502920"/>
          </a:xfrm>
          <a:prstGeom prst="ellipse">
            <a:avLst/>
          </a:prstGeom>
          <a:solidFill>
            <a:srgbClr val="F5A524">
              <a:alpha val="13000"/>
            </a:srgbClr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43300" y="4137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566160" y="4800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headroom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66160" y="5212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80C/80D utilisation and regime comparison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39319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32220" y="4137660"/>
            <a:ext cx="502920" cy="502920"/>
          </a:xfrm>
          <a:prstGeom prst="ellipse">
            <a:avLst/>
          </a:prstGeom>
          <a:solidFill>
            <a:srgbClr val="F5A524">
              <a:alpha val="13000"/>
            </a:srgbClr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32220" y="4137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355080" y="4800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bills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55080" y="5212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and track obligations across members transparently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006840" y="3931920"/>
            <a:ext cx="2606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Routing is prioritized first — see Opportunity Matrix, next slide.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 ·  AI-Native Enterprise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 · FRAMEWORK — AI OPPORTUNITY MATRIX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 Routing sits alone in Priority Initiatives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371600" y="1691640"/>
            <a:ext cx="0" cy="4572000"/>
          </a:xfrm>
          <a:prstGeom prst="line">
            <a:avLst/>
          </a:prstGeom>
          <a:noFill/>
          <a:ln w="19050">
            <a:solidFill>
              <a:srgbClr val="272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6263640"/>
            <a:ext cx="6949440" cy="0"/>
          </a:xfrm>
          <a:prstGeom prst="line">
            <a:avLst/>
          </a:prstGeom>
          <a:noFill/>
          <a:ln w="19050">
            <a:solidFill>
              <a:srgbClr val="272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691640"/>
            <a:ext cx="3474720" cy="2286000"/>
          </a:xfrm>
          <a:prstGeom prst="rect">
            <a:avLst/>
          </a:prstGeom>
          <a:solidFill>
            <a:srgbClr val="F5A524">
              <a:alpha val="6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783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83480" y="1783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LONGER-TERM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08760" y="4069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83480" y="4069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DEPRIORITIZE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 rot="16200000">
            <a:off x="320040" y="2514600"/>
            <a:ext cx="1005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→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63733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22338" y="1714500"/>
            <a:ext cx="1051560" cy="105156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  <a:effectLst>
            <a:outerShdw sx="100000" sy="100000" kx="0" ky="0" algn="bl" rotWithShape="0" blurRad="177800" dist="50800" dir="16200000">
              <a:srgbClr val="F5A524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22338" y="17145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291633" y="2491740"/>
            <a:ext cx="777240" cy="777240"/>
          </a:xfrm>
          <a:prstGeom prst="ellipse">
            <a:avLst/>
          </a:prstGeom>
          <a:solidFill>
            <a:srgbClr val="18181B"/>
          </a:solidFill>
          <a:ln w="15875">
            <a:solidFill>
              <a:srgbClr val="272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91633" y="24917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62756" y="2674620"/>
            <a:ext cx="777240" cy="777240"/>
          </a:xfrm>
          <a:prstGeom prst="ellipse">
            <a:avLst/>
          </a:prstGeom>
          <a:solidFill>
            <a:srgbClr val="18181B"/>
          </a:solidFill>
          <a:ln w="15875">
            <a:solidFill>
              <a:srgbClr val="272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62756" y="26746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52644" y="3771900"/>
            <a:ext cx="777240" cy="777240"/>
          </a:xfrm>
          <a:prstGeom prst="ellipse">
            <a:avLst/>
          </a:prstGeom>
          <a:solidFill>
            <a:srgbClr val="18181B"/>
          </a:solidFill>
          <a:ln w="15875">
            <a:solidFill>
              <a:srgbClr val="272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52644" y="37719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Cash-flow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23767" y="4046220"/>
            <a:ext cx="777240" cy="777240"/>
          </a:xfrm>
          <a:prstGeom prst="ellipse">
            <a:avLst/>
          </a:prstGeom>
          <a:solidFill>
            <a:srgbClr val="18181B"/>
          </a:solidFill>
          <a:ln w="15875">
            <a:solidFill>
              <a:srgbClr val="272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23767" y="4046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33879" y="4594860"/>
            <a:ext cx="777240" cy="777240"/>
          </a:xfrm>
          <a:prstGeom prst="ellipse">
            <a:avLst/>
          </a:prstGeom>
          <a:solidFill>
            <a:srgbClr val="18181B"/>
          </a:solidFill>
          <a:ln w="15875">
            <a:solidFill>
              <a:srgbClr val="272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33879" y="45948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94890" y="2583180"/>
            <a:ext cx="777240" cy="777240"/>
          </a:xfrm>
          <a:prstGeom prst="ellipse">
            <a:avLst/>
          </a:prstGeom>
          <a:solidFill>
            <a:srgbClr val="18181B"/>
          </a:solidFill>
          <a:ln w="15875">
            <a:solidFill>
              <a:srgbClr val="272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94890" y="25831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Bank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732520" y="1691640"/>
            <a:ext cx="2880360" cy="4572000"/>
          </a:xfrm>
          <a:prstGeom prst="roundRect">
            <a:avLst>
              <a:gd name="adj" fmla="val 3175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0684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Card Routing wins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006840" y="2377440"/>
            <a:ext cx="2514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data CRED already has — linked cards, no new consent flow</a:t>
            </a:r>
            <a:endParaRPr lang="en-US" sz="11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pricing — lowest AI risk tier of all seven use cases</a:t>
            </a:r>
            <a:endParaRPr lang="en-US" sz="11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is useful the first time a household links a second card</a:t>
            </a:r>
            <a:endParaRPr lang="en-US" sz="11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measurable KPI: ₹ recovered per household per year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 ·  AI-Native Enterprise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F5A524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AI VISION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bill-pay app to the household’s financial intelligence layer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“Every financial decision a family makes — which card, how much cover, what to file — should have a clear, explainable answer available before the decision is made, not after the statement arrives.”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9776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4526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Household, not individual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7280" y="4937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reasons across linked members, not one cardholder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379476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39776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17720" y="4526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by construction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17720" y="4937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explains; deterministic code decides — every number is reproducible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379476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39776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138160" y="4526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confirms, human acts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138160" y="4937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 sees what the model understood before anything is priced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 ·  AI-Native Enterprise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ENTERPRISE AI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strategic bets, sequenced by risk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842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929384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1 — Prove judgment at low risk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52160" y="1947672"/>
            <a:ext cx="0" cy="91440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929384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Routing: recommendation only, no autonomous transaction, deterministic pricing. Live now.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015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346704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2 — Extend to advisory categories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52160" y="3364992"/>
            <a:ext cx="0" cy="91440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3346704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Protection, tax, portfolio: still advisory, still human-confirmed, broader household data.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818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4764024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3 — Earn the right to real data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52160" y="4782312"/>
            <a:ext cx="0" cy="91440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4764024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Bets 1–2 prove reliability does the roadmap justify Account Aggregator-linked live data.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 ·  AI-Native Enterprise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 · FRAMEWORK — ENTERPRISE AI CANVAS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strategy on one page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2606040" cy="384048"/>
          </a:xfrm>
          <a:prstGeom prst="rect">
            <a:avLst/>
          </a:prstGeom>
          <a:solidFill>
            <a:srgbClr val="F5A524">
              <a:alpha val="9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916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2167128"/>
            <a:ext cx="2276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Multi-card households — primary earner + linked family members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64408" y="16916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64408" y="1691640"/>
            <a:ext cx="2606040" cy="384048"/>
          </a:xfrm>
          <a:prstGeom prst="rect">
            <a:avLst/>
          </a:prstGeom>
          <a:solidFill>
            <a:srgbClr val="F5A524">
              <a:alpha val="9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6916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29000" y="2167128"/>
            <a:ext cx="2276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 reward value on the table; one household, one answer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80176" y="16916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0176" y="1691640"/>
            <a:ext cx="2606040" cy="384048"/>
          </a:xfrm>
          <a:prstGeom prst="rect">
            <a:avLst/>
          </a:prstGeom>
          <a:solidFill>
            <a:srgbClr val="F5A524">
              <a:alpha val="9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144768" y="16916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44768" y="2167128"/>
            <a:ext cx="2276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card metadata, issuer T&amp;Cs, purchase description (typed, not scraped)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95944" y="16916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95944" y="1691640"/>
            <a:ext cx="2606040" cy="384048"/>
          </a:xfrm>
          <a:prstGeom prst="rect">
            <a:avLst/>
          </a:prstGeom>
          <a:solidFill>
            <a:srgbClr val="F5A524">
              <a:alpha val="9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860536" y="16916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60536" y="2167128"/>
            <a:ext cx="2276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intake (Gemini) + deterministic rules engine (36 rules) + explanation layer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50208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950208"/>
            <a:ext cx="2606040" cy="384048"/>
          </a:xfrm>
          <a:prstGeom prst="rect">
            <a:avLst/>
          </a:prstGeom>
          <a:solidFill>
            <a:srgbClr val="F5A524">
              <a:alpha val="9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39502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" y="4425696"/>
            <a:ext cx="2276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module; card-linkage flow CRED already operates today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64408" y="3950208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64408" y="3950208"/>
            <a:ext cx="2606040" cy="384048"/>
          </a:xfrm>
          <a:prstGeom prst="rect">
            <a:avLst/>
          </a:prstGeom>
          <a:solidFill>
            <a:srgbClr val="F5A524">
              <a:alpha val="9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39502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29000" y="4425696"/>
            <a:ext cx="2276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Router (live) → Protection, Tax, Vault, Portfolio, Payments (Phase 2–3)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80176" y="3950208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80176" y="3950208"/>
            <a:ext cx="2606040" cy="384048"/>
          </a:xfrm>
          <a:prstGeom prst="rect">
            <a:avLst/>
          </a:prstGeom>
          <a:solidFill>
            <a:srgbClr val="F5A524">
              <a:alpha val="9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144768" y="39502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44768" y="4425696"/>
            <a:ext cx="2276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Advisory-only risk tier; human confirms every parsed purchase before pricing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95944" y="3950208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95944" y="3950208"/>
            <a:ext cx="2606040" cy="384048"/>
          </a:xfrm>
          <a:prstGeom prst="rect">
            <a:avLst/>
          </a:prstGeom>
          <a:solidFill>
            <a:srgbClr val="F5A524">
              <a:alpha val="9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860536" y="39502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60536" y="4425696"/>
            <a:ext cx="2276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rewards leakage recovered per household per year (₹33,036 demo baseline)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 ·  AI-Native Enterprise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AI USE CASES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modules, one household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4612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72084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19556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11064240" cy="0"/>
          </a:xfrm>
          <a:prstGeom prst="line">
            <a:avLst/>
          </a:prstGeom>
          <a:noFill/>
          <a:ln w="15875">
            <a:solidFill>
              <a:srgbClr val="E4E4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12264"/>
            <a:ext cx="11247120" cy="658368"/>
          </a:xfrm>
          <a:prstGeom prst="rect">
            <a:avLst/>
          </a:prstGeom>
          <a:solidFill>
            <a:srgbClr val="F5A524">
              <a:alpha val="7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6712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Router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46120" y="216712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reward comparison across cards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20840" y="216712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intake + rules engine + explanation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195560" y="216712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live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825496"/>
            <a:ext cx="1106424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803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Score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46120" y="288036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if life/health cover is adequate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720840" y="288036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against income &amp; dependents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195560" y="288036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538728"/>
            <a:ext cx="1106424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59359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Vault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46120" y="359359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Nominee/estate gaps go unnoticed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20840" y="359359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extraction + legacy-flag detection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195560" y="359359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1106424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30682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Compliance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246120" y="430682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Unclaimed 80C/80D headroom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20840" y="430682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gap + regime comparison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195560" y="430682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965192"/>
            <a:ext cx="1106424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020056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246120" y="502005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consolidated household allocation view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720840" y="502005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analysis, natural-language Q&amp;A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195560" y="502005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678424"/>
            <a:ext cx="1106424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73328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Cash-flow / Payments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246120" y="573328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bills tracked manually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720840" y="573328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 check, obligation splitting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195560" y="573328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48640" y="6391656"/>
            <a:ext cx="1106424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 ·  AI-Native Enterprise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 · AI USE CASE #1 — LIVE APPLICATION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 winner change with one phrase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4480560"/>
          </a:xfrm>
          <a:prstGeom prst="roundRect">
            <a:avLst>
              <a:gd name="adj" fmla="val 2041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₹80,000 FLIGHT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4526280" cy="1371600"/>
          </a:xfrm>
          <a:prstGeom prst="roundRect">
            <a:avLst>
              <a:gd name="adj" fmla="val 6667"/>
            </a:avLst>
          </a:prstGeom>
          <a:solidFill>
            <a:srgbClr val="0F0F11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560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“…through SmartBuy”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Infinia Metal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94760" y="284378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₹13,200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33192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16.5% — portal accelerator fires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3977640"/>
            <a:ext cx="4526280" cy="1371600"/>
          </a:xfrm>
          <a:prstGeom prst="roundRect">
            <a:avLst>
              <a:gd name="adj" fmla="val 6667"/>
            </a:avLst>
          </a:prstGeom>
          <a:solidFill>
            <a:srgbClr val="0F0F11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“…direct with the airline”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4434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Atlas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94760" y="439826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B7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₹4,000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51560" y="4873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— portal rule never applies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81528" y="3794760"/>
            <a:ext cx="0" cy="182880"/>
          </a:xfrm>
          <a:prstGeom prst="line">
            <a:avLst/>
          </a:prstGeom>
          <a:noFill/>
          <a:ln w="25400">
            <a:solidFill>
              <a:srgbClr val="F5A524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760720" y="1691640"/>
            <a:ext cx="5852160" cy="2103120"/>
          </a:xfrm>
          <a:prstGeom prst="roundRect">
            <a:avLst>
              <a:gd name="adj" fmla="val 4348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874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Board sees live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035040" y="2240280"/>
            <a:ext cx="534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manager types the purchase in plain English — no dropdown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amount, category, merchant, booking channel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rules engine — not the model — prices every card and picks the winner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explanation names the exact clause that decided 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3977640"/>
            <a:ext cx="5852160" cy="2194560"/>
          </a:xfrm>
          <a:prstGeom prst="roundRect">
            <a:avLst>
              <a:gd name="adj" fmla="val 4167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35040" y="44348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dtai-fintech-cred.vercel.app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35040" y="498348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Lead demos this live for 3–5 minutes here. Backup: screen-recorded run of the same scenario.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 ·  AI-Native Enterprise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AI OPERATING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teams, decisions and workflow change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5156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31920" y="1956816"/>
            <a:ext cx="0" cy="54864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0" y="1828800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use case backlog against the Opportunity Matrix, not feature requests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05156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74320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31920" y="2871216"/>
            <a:ext cx="0" cy="54864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2743200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model selection, failover configuration, and explanation-quality review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05156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65760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31920" y="3785616"/>
            <a:ext cx="0" cy="54864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3657600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risk-tier classification and sign-off before any use case ships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05156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57200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member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931920" y="4700016"/>
            <a:ext cx="0" cy="54864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4572000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final action — confirms every AI reading before it is priced or acted 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760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rights are deliberately narrow: the model never has authority to move money or finalize a recommendation without the confirm step.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 ·  AI-Native Enterprise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9A · FRAMEWORK — OPERATING MODEL BLUEPRINT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layers, one accountable owner each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515600" cy="841248"/>
          </a:xfrm>
          <a:prstGeom prst="roundRect">
            <a:avLst>
              <a:gd name="adj" fmla="val 10870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2194560" cy="841248"/>
          </a:xfrm>
          <a:prstGeom prst="rect">
            <a:avLst/>
          </a:prstGeom>
          <a:solidFill>
            <a:srgbClr val="F5A524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1783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880360" y="1737360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0" y="1737360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use case ships next, sequenced by the Opportunity Matrix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10515600" cy="841248"/>
          </a:xfrm>
          <a:prstGeom prst="roundRect">
            <a:avLst>
              <a:gd name="adj" fmla="val 10870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70048"/>
            <a:ext cx="2194560" cy="841248"/>
          </a:xfrm>
          <a:prstGeom prst="rect">
            <a:avLst/>
          </a:prstGeom>
          <a:solidFill>
            <a:srgbClr val="F5A524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70048"/>
            <a:ext cx="1783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880360" y="2670048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0" y="2670048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linkage, issuer T&amp;Cs ingestion, consent (AA framework, future)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02736"/>
            <a:ext cx="10515600" cy="841248"/>
          </a:xfrm>
          <a:prstGeom prst="roundRect">
            <a:avLst>
              <a:gd name="adj" fmla="val 10870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602736"/>
            <a:ext cx="2194560" cy="841248"/>
          </a:xfrm>
          <a:prstGeom prst="rect">
            <a:avLst/>
          </a:prstGeom>
          <a:solidFill>
            <a:srgbClr val="F5A524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02736"/>
            <a:ext cx="1783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880360" y="3602736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3602736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+ explanation models, failover chain across models &amp; keys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535424"/>
            <a:ext cx="10515600" cy="841248"/>
          </a:xfrm>
          <a:prstGeom prst="roundRect">
            <a:avLst>
              <a:gd name="adj" fmla="val 10870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535424"/>
            <a:ext cx="2194560" cy="841248"/>
          </a:xfrm>
          <a:prstGeom prst="rect">
            <a:avLst/>
          </a:prstGeom>
          <a:solidFill>
            <a:srgbClr val="F5A524">
              <a:alpha val="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535424"/>
            <a:ext cx="1783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880360" y="4535424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4535424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engine, decision trace, UI confirm step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468112"/>
            <a:ext cx="10515600" cy="841248"/>
          </a:xfrm>
          <a:prstGeom prst="roundRect">
            <a:avLst>
              <a:gd name="adj" fmla="val 10870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468112"/>
            <a:ext cx="2194560" cy="841248"/>
          </a:xfrm>
          <a:prstGeom prst="rect">
            <a:avLst/>
          </a:prstGeom>
          <a:solidFill>
            <a:srgbClr val="F5A524">
              <a:alpha val="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468112"/>
            <a:ext cx="1783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880360" y="5468112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0" y="5468112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tiering, human-in-the-loop enforcement, audit trail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 ·  AI-Native Enterprise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DATA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prototype uses today vs. what production needs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663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PROTOTYPE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617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synthetic households, compiled into the app — no external data source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card terms hand-encoded from published, public fee schedules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details typed by the user — no transaction feed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PII collected; no persistent database on the deployed instance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0" y="1783080"/>
            <a:ext cx="5166360" cy="4206240"/>
          </a:xfrm>
          <a:prstGeom prst="roundRect">
            <a:avLst>
              <a:gd name="adj" fmla="val 2174"/>
            </a:avLst>
          </a:prstGeom>
          <a:solidFill>
            <a:srgbClr val="18181B">
              <a:alpha val="13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— REQUIRED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0" y="2331720"/>
            <a:ext cx="4617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Consented transaction &amp; card data via the RBI Account Aggregator framework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T&amp;C ingestion pipeline with version tracking as terms change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Card-on-file tokenisation for real spend routing, not typed description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2023-compliant retention and household-consent design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 ·  AI-Native Enterprise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TECHNOLOGY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and decision are deliberately separate systems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1874520" cy="54864"/>
          </a:xfrm>
          <a:prstGeom prst="rect">
            <a:avLst/>
          </a:prstGeom>
          <a:solidFill>
            <a:srgbClr val="A1A1A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28600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788920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types the purchase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423160" y="26517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79192" y="210312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79192" y="2103120"/>
            <a:ext cx="187452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228600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intake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88920" y="2788920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extracts amount, category,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merchant, booking channel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53712" y="26517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809744" y="210312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9744" y="2103120"/>
            <a:ext cx="1874520" cy="54864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228600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confirms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19472" y="2788920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shown for correction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anything is priced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684264" y="26517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940296" y="210312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0296" y="2103120"/>
            <a:ext cx="187452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7050024" y="228600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050024" y="2788920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rules price every card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deterministically in code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14816" y="26517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070848" y="210312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70848" y="2103120"/>
            <a:ext cx="187452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6" name="Text 24"/>
          <p:cNvSpPr/>
          <p:nvPr/>
        </p:nvSpPr>
        <p:spPr>
          <a:xfrm>
            <a:off x="9180576" y="228600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180576" y="2788920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narrates the decision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did not make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402336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Resilience, tested in production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4572000"/>
            <a:ext cx="4663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key failover chain — a rate-limited model moves to the next automatically</a:t>
            </a:r>
            <a:endParaRPr lang="en-US" sz="11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Per-attempt timeout so a hung model fails fast, not silently, mid-demo</a:t>
            </a:r>
            <a:endParaRPr lang="en-US" sz="11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fallback: if every model fails, rules-only pricing still answers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4023360"/>
            <a:ext cx="5623560" cy="2148840"/>
          </a:xfrm>
          <a:prstGeom prst="roundRect">
            <a:avLst>
              <a:gd name="adj" fmla="val 4255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run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4617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₹1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6309360" y="5166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recommendation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short model calls)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869680" y="4617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8869680" y="5166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cost of the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engine itself — pure code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 ·  AI-Native Enterprise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AI 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rights are narrow by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may 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purchase description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cards using disclosed logic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 decision already made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82880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may never do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55080" y="260604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winning card unilaterally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money or initiate a transaction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human confirmation step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34924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18181B">
              <a:alpha val="5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34924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tier: Advisory / Recommendation — lowest tier on the Risk Governance Canvas (next slide is the risk matrix; the tier definition sits on slide 18).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 ·  AI-Native Enterprise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12A · FRAMEWORK — AI GOVERNANCE CANVAS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rights, risk tier, human-in-the-loop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94760" y="164592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469880" cy="621792"/>
          </a:xfrm>
          <a:prstGeom prst="roundRect">
            <a:avLst>
              <a:gd name="adj" fmla="val 14706"/>
            </a:avLst>
          </a:prstGeom>
          <a:solidFill>
            <a:srgbClr val="141416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1168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authority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94760" y="2011680"/>
            <a:ext cx="7086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only. Final action always taken by the household member.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10469880" cy="621792"/>
          </a:xfrm>
          <a:prstGeom prst="roundRect">
            <a:avLst>
              <a:gd name="adj" fmla="val 14706"/>
            </a:avLst>
          </a:prstGeom>
          <a:solidFill>
            <a:srgbClr val="141416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06624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94760" y="2706624"/>
            <a:ext cx="7086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/ Low — no funds movement, no regulated credit decision.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01568"/>
            <a:ext cx="10469880" cy="621792"/>
          </a:xfrm>
          <a:prstGeom prst="roundRect">
            <a:avLst>
              <a:gd name="adj" fmla="val 14706"/>
            </a:avLst>
          </a:prstGeom>
          <a:solidFill>
            <a:srgbClr val="141416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40156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point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94760" y="3401568"/>
            <a:ext cx="7086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purchase (amount, category, channel) shown for correction before pricing.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96512"/>
            <a:ext cx="10469880" cy="621792"/>
          </a:xfrm>
          <a:prstGeom prst="roundRect">
            <a:avLst>
              <a:gd name="adj" fmla="val 14706"/>
            </a:avLst>
          </a:prstGeom>
          <a:solidFill>
            <a:srgbClr val="141416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09651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requirement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94760" y="4096512"/>
            <a:ext cx="7086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ships with a full rule-by-rule decision trace.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791456"/>
            <a:ext cx="10469880" cy="621792"/>
          </a:xfrm>
          <a:prstGeom prst="roundRect">
            <a:avLst>
              <a:gd name="adj" fmla="val 14706"/>
            </a:avLst>
          </a:prstGeom>
          <a:solidFill>
            <a:srgbClr val="141416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791456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path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94760" y="4791456"/>
            <a:ext cx="7086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or all-excluded cases surface an honest “no good option”, never a guess.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486400"/>
            <a:ext cx="10469880" cy="621792"/>
          </a:xfrm>
          <a:prstGeom prst="roundRect">
            <a:avLst>
              <a:gd name="adj" fmla="val 14706"/>
            </a:avLst>
          </a:prstGeom>
          <a:solidFill>
            <a:srgbClr val="141416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48640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failure handling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94760" y="5486400"/>
            <a:ext cx="7086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deterministic rules-only pricing — recommendation never blocked.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 ·  AI-Native Enterprise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BUSINESS VALUE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value is created, beyond the recovered rupee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66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" y="2098548"/>
            <a:ext cx="502920" cy="502920"/>
          </a:xfrm>
          <a:prstGeom prst="ellipse">
            <a:avLst/>
          </a:prstGeom>
          <a:solidFill>
            <a:srgbClr val="F5A524">
              <a:alpha val="13000"/>
            </a:srgbClr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" y="20985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09397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member value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₹33,036/yr recovered per multi-card household — the headline, member-visible number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89320" y="1874520"/>
            <a:ext cx="5166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0780" y="2098548"/>
            <a:ext cx="502920" cy="502920"/>
          </a:xfrm>
          <a:prstGeom prst="ellipse">
            <a:avLst/>
          </a:prstGeom>
          <a:solidFill>
            <a:srgbClr val="F5A524">
              <a:alpha val="13000"/>
            </a:srgbClr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0780" y="20985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03720" y="209397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09360" y="27889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reason to reopen the app before the next bill — addresses the plateau on slide 5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166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" y="4064508"/>
            <a:ext cx="502920" cy="502920"/>
          </a:xfrm>
          <a:prstGeom prst="ellipse">
            <a:avLst/>
          </a:prstGeom>
          <a:solidFill>
            <a:srgbClr val="F5A524">
              <a:alpha val="13000"/>
            </a:srgbClr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" y="40645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05993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asset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68680" y="47548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linked card and confirmed purchase deepens CRED’s view of real household spend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89320" y="3840480"/>
            <a:ext cx="5166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40780" y="4064508"/>
            <a:ext cx="502920" cy="502920"/>
          </a:xfrm>
          <a:prstGeom prst="ellipse">
            <a:avLst/>
          </a:prstGeom>
          <a:solidFill>
            <a:srgbClr val="F5A524">
              <a:alpha val="13000"/>
            </a:srgbClr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0780" y="40645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03720" y="405993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surface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09360" y="47548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household with visible reward leakage is a qualified lead for its next card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 ·  AI-Native Enterprise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FINANCIAL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sizing — stated assumptions, not disclosed figures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4922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7492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· ₹33,036/household/yr × assumed reach. NOT sourced from CRED’s disclosed financials — built bottom-up from the live app’s demo household economics for this class exercise.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315200" y="1737360"/>
            <a:ext cx="4343400" cy="4892040"/>
          </a:xfrm>
          <a:prstGeom prst="roundRect">
            <a:avLst>
              <a:gd name="adj" fmla="val 2105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1938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589520" y="22860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₹1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589520" y="2880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recommendation served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32461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7589520" y="3840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cost per rule or card added — pricing is code, not inference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589520" y="4526280"/>
            <a:ext cx="3794760" cy="0"/>
          </a:xfrm>
          <a:prstGeom prst="line">
            <a:avLst/>
          </a:prstGeom>
          <a:noFill/>
          <a:ln w="12700">
            <a:solidFill>
              <a:srgbClr val="2727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TAKE-RATE LOGIC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589520" y="498348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does not need to capture the recovered rupee directly — the mechanism is engagement and card-issuance referral, both existing revenue lines, applied to a stickier, more frequent product surface.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 ·  AI-Native Enterprise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RISKS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risks, with mitigations already built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FB7185">
              <a:alpha val="13000"/>
            </a:srgbClr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pricing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92040" y="1965960"/>
            <a:ext cx="0" cy="64008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1920240"/>
            <a:ext cx="5715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by construction — the model never computes a rupee figure; code does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108960"/>
            <a:ext cx="457200" cy="457200"/>
          </a:xfrm>
          <a:prstGeom prst="ellipse">
            <a:avLst/>
          </a:prstGeom>
          <a:solidFill>
            <a:srgbClr val="FB7185">
              <a:alpha val="13000"/>
            </a:srgbClr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2971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rate limits mid-demo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92040" y="3017520"/>
            <a:ext cx="0" cy="64008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2971800"/>
            <a:ext cx="5715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failover across models and keys, tested live in production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FB7185">
              <a:alpha val="13000"/>
            </a:srgbClr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023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or wrong card terms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92040" y="4069080"/>
            <a:ext cx="0" cy="64008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4023360"/>
            <a:ext cx="5715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sourced from published schedules; production requires a version-tracked ingestion pipeline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98348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5212080"/>
            <a:ext cx="457200" cy="457200"/>
          </a:xfrm>
          <a:prstGeom prst="ellipse">
            <a:avLst/>
          </a:prstGeom>
          <a:solidFill>
            <a:srgbClr val="FB7185">
              <a:alpha val="13000"/>
            </a:srgbClr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17320" y="50749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toward well-documented cards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92040" y="5120640"/>
            <a:ext cx="0" cy="64008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5074920"/>
            <a:ext cx="5715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cards default to a conservative 1% base rate, flagged as low confidence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 ·  AI-Native Enterprise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15A · FRAMEWORK — RISK ASSESSMENT MATRIX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Likelihood × impact, application-specific risks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103120" y="1691640"/>
            <a:ext cx="0" cy="4572000"/>
          </a:xfrm>
          <a:prstGeom prst="line">
            <a:avLst/>
          </a:prstGeom>
          <a:noFill/>
          <a:ln w="19050">
            <a:solidFill>
              <a:srgbClr val="272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6263640"/>
            <a:ext cx="6035040" cy="0"/>
          </a:xfrm>
          <a:prstGeom prst="line">
            <a:avLst/>
          </a:prstGeom>
          <a:noFill/>
          <a:ln w="19050">
            <a:solidFill>
              <a:srgbClr val="272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16200000">
            <a:off x="868680" y="2606040"/>
            <a:ext cx="1005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63733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1691640"/>
            <a:ext cx="2011680" cy="4572000"/>
          </a:xfrm>
          <a:prstGeom prst="rect">
            <a:avLst/>
          </a:prstGeom>
          <a:solidFill>
            <a:srgbClr val="34D399">
              <a:alpha val="7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114800" y="1691640"/>
            <a:ext cx="2011680" cy="4572000"/>
          </a:xfrm>
          <a:prstGeom prst="rect">
            <a:avLst/>
          </a:prstGeom>
          <a:solidFill>
            <a:srgbClr val="F5A524">
              <a:alpha val="7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126480" y="1691640"/>
            <a:ext cx="2011680" cy="4572000"/>
          </a:xfrm>
          <a:prstGeom prst="rect">
            <a:avLst/>
          </a:prstGeom>
          <a:solidFill>
            <a:srgbClr val="FB7185">
              <a:alpha val="9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376111" y="3314700"/>
            <a:ext cx="868680" cy="868680"/>
          </a:xfrm>
          <a:prstGeom prst="ellipse">
            <a:avLst/>
          </a:prstGeom>
          <a:solidFill>
            <a:srgbClr val="18181B"/>
          </a:solidFill>
          <a:ln w="22225">
            <a:solidFill>
              <a:srgbClr val="F5A5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6111" y="33147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mid-demo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03497" y="2994660"/>
            <a:ext cx="868680" cy="868680"/>
          </a:xfrm>
          <a:prstGeom prst="ellipse">
            <a:avLst/>
          </a:prstGeom>
          <a:solidFill>
            <a:srgbClr val="18181B"/>
          </a:solidFill>
          <a:ln w="22225">
            <a:solidFill>
              <a:srgbClr val="F5A5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3497" y="29946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card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51583" y="1714500"/>
            <a:ext cx="868680" cy="868680"/>
          </a:xfrm>
          <a:prstGeom prst="ellipse">
            <a:avLst/>
          </a:prstGeom>
          <a:solidFill>
            <a:srgbClr val="18181B"/>
          </a:solidFill>
          <a:ln w="22225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51583" y="17145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72607" y="4229100"/>
            <a:ext cx="868680" cy="868680"/>
          </a:xfrm>
          <a:prstGeom prst="ellipse">
            <a:avLst/>
          </a:prstGeom>
          <a:solidFill>
            <a:srgbClr val="18181B"/>
          </a:solidFill>
          <a:ln w="22225">
            <a:solidFill>
              <a:srgbClr val="FB71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72607" y="42291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77540" y="2628900"/>
            <a:ext cx="868680" cy="868680"/>
          </a:xfrm>
          <a:prstGeom prst="ellipse">
            <a:avLst/>
          </a:prstGeom>
          <a:solidFill>
            <a:srgbClr val="18181B"/>
          </a:solidFill>
          <a:ln w="22225">
            <a:solidFill>
              <a:srgbClr val="F5A5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77540" y="26289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549640" y="1691640"/>
            <a:ext cx="3063240" cy="4572000"/>
          </a:xfrm>
          <a:prstGeom prst="roundRect">
            <a:avLst>
              <a:gd name="adj" fmla="val 2985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2396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status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23960" y="2377440"/>
            <a:ext cx="2697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pricing: eliminated by design, not mitigated</a:t>
            </a:r>
            <a:endParaRPr lang="en-US" sz="10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risk: multi-model failover live and tested</a:t>
            </a:r>
            <a:endParaRPr lang="en-US" sz="10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terms: flagged as a Phase 2 pipeline requirement</a:t>
            </a:r>
            <a:endParaRPr lang="en-US" sz="10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intake: surfaced to the human, never guessed silently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 ·  AI-Native Enterprise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TRANSFORMATION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Phased, and Phase 1 is already shipped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3520440" cy="50292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months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Router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CRED member base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₹-recovered KPI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 card-linkage data feed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57150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715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7680" y="187452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874520"/>
            <a:ext cx="3520440" cy="5029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2468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0" y="27889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suite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572000" y="33832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Score, Family Vault, Tax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advisory-only risk tier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Human-confirm pattern reused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187452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1874520"/>
            <a:ext cx="3520440" cy="5029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0" y="2468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 months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21040" y="27889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data, full household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321040" y="33832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Aggregator integration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&amp; Payments modules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Household-level consent design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 ·  AI-Native Enterprise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7315200" cy="7315200"/>
          </a:xfrm>
          <a:prstGeom prst="ellipse">
            <a:avLst/>
          </a:prstGeom>
          <a:solidFill>
            <a:srgbClr val="F5A524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FUTURE VISION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household financial operating system, three to five years out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3291840" cy="3200400"/>
          </a:xfrm>
          <a:prstGeom prst="roundRect">
            <a:avLst>
              <a:gd name="adj" fmla="val 2857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2377440"/>
            <a:ext cx="640080" cy="640080"/>
          </a:xfrm>
          <a:prstGeom prst="ellipse">
            <a:avLst/>
          </a:prstGeom>
          <a:solidFill>
            <a:srgbClr val="F5A524">
              <a:alpha val="13000"/>
            </a:srgbClr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33375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decision, explained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97280" y="40690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Card, cover, tax, and investment choices all carry a visible, auditable rationale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2103120"/>
            <a:ext cx="3291840" cy="3200400"/>
          </a:xfrm>
          <a:prstGeom prst="roundRect">
            <a:avLst>
              <a:gd name="adj" fmla="val 2857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2377440"/>
            <a:ext cx="640080" cy="640080"/>
          </a:xfrm>
          <a:prstGeom prst="ellipse">
            <a:avLst/>
          </a:prstGeom>
          <a:solidFill>
            <a:srgbClr val="F5A524">
              <a:alpha val="13000"/>
            </a:srgbClr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33375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data, real consent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17720" y="40690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Aggregator-linked live feeds replace typed descriptions and synthetic households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2103120"/>
            <a:ext cx="3291840" cy="3200400"/>
          </a:xfrm>
          <a:prstGeom prst="roundRect">
            <a:avLst>
              <a:gd name="adj" fmla="val 2857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89720" y="2377440"/>
            <a:ext cx="640080" cy="640080"/>
          </a:xfrm>
          <a:prstGeom prst="ellipse">
            <a:avLst/>
          </a:prstGeom>
          <a:solidFill>
            <a:srgbClr val="F5A524">
              <a:alpha val="13000"/>
            </a:srgbClr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972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092440" y="33375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 as the household layer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138160" y="40690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bill-pay app with modules — the default surface a family opens to decide anything financial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 ·  AI-Native Enterprise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FINAL 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asking the Board to approve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299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792224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Card Router for member rollout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0" cy="868680"/>
          </a:xfrm>
          <a:prstGeom prst="line">
            <a:avLst/>
          </a:prstGeom>
          <a:noFill/>
          <a:ln w="12700">
            <a:solidFill>
              <a:srgbClr val="272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92224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built, deployed, and tested — approval starts a rollout, not a build.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015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163824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Phase 2 advisory modules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3200400"/>
            <a:ext cx="0" cy="868680"/>
          </a:xfrm>
          <a:prstGeom prst="line">
            <a:avLst/>
          </a:prstGeom>
          <a:noFill/>
          <a:ln w="12700">
            <a:solidFill>
              <a:srgbClr val="272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163824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same architecture and risk tier; Protection, Vault and Tax are additive, not new risk.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7731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4535424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the Account Aggregator integration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4572000"/>
            <a:ext cx="0" cy="868680"/>
          </a:xfrm>
          <a:prstGeom prst="line">
            <a:avLst/>
          </a:prstGeom>
          <a:noFill/>
          <a:ln w="12700">
            <a:solidFill>
              <a:srgbClr val="272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535424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dependency standing between this prototype and real household data.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779008"/>
            <a:ext cx="10515600" cy="530352"/>
          </a:xfrm>
          <a:prstGeom prst="roundRect">
            <a:avLst>
              <a:gd name="adj" fmla="val 17241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7790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strategy without a working prototype is a proposal. This is not a proposal.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 ·  AI-Native Enterprise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2026-08-21T16:47:18Z</dcterms:created>
  <dcterms:modified xsi:type="dcterms:W3CDTF">2026-08-21T16:47:18Z</dcterms:modified>
</cp:coreProperties>
</file>